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4" r:id="rId7"/>
    <p:sldId id="259" r:id="rId8"/>
    <p:sldId id="260" r:id="rId9"/>
    <p:sldId id="261" r:id="rId1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1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3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3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723900" y="1428750"/>
            <a:ext cx="17800955" cy="777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400" b="1" i="0" u="none" strike="noStrike" cap="none">
              <a:solidFill>
                <a:srgbClr val="000000"/>
              </a:solidFill>
              <a:latin typeface="Times New Roman Bold" panose="02020503050405090304" charset="0"/>
              <a:ea typeface="Arial" panose="020B0604020202090204"/>
              <a:cs typeface="Times New Roman Bold" panose="02020503050405090304" charset="0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Team Name      					: TechRun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 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 </a:t>
            </a:r>
            <a:endParaRPr lang="en-US" sz="4000" b="1" i="0" u="none" strike="noStrike" cap="none">
              <a:solidFill>
                <a:srgbClr val="000000"/>
              </a:solidFill>
              <a:latin typeface="Times New Roman Bold" panose="02020503050405090304" charset="0"/>
              <a:ea typeface="Arial" panose="020B0604020202090204"/>
              <a:cs typeface="Times New Roman Bold" panose="02020503050405090304" charset="0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Idea / Project Title</a:t>
            </a:r>
            <a:r>
              <a:rPr lang="en-US" sz="44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				</a:t>
            </a:r>
            <a:r>
              <a:rPr lang="en-US" sz="40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:</a:t>
            </a:r>
            <a:r>
              <a:rPr lang="en-US" sz="44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 </a:t>
            </a:r>
            <a:r>
              <a:rPr lang="en-US" altLang="en-US" sz="32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AI-POWERED SMART AI ASSISTANT</a:t>
            </a:r>
            <a:endParaRPr lang="en-US" altLang="en-US" sz="3000" b="1" i="0" u="none" strike="noStrike" cap="none">
              <a:solidFill>
                <a:srgbClr val="000000"/>
              </a:solidFill>
              <a:latin typeface="Times New Roman Bold" panose="02020503050405090304" charset="0"/>
              <a:ea typeface="Arial" panose="020B0604020202090204"/>
              <a:cs typeface="Times New Roman Bold" panose="02020503050405090304" charset="0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College Name					: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M.A.M. College of Engineering and Technology</a:t>
            </a:r>
            <a:endParaRPr lang="en-US" sz="4000" b="1" i="0" u="none" strike="noStrike" cap="none">
              <a:solidFill>
                <a:srgbClr val="000000"/>
              </a:solidFill>
              <a:latin typeface="Times New Roman Bold" panose="02020503050405090304" charset="0"/>
              <a:ea typeface="Arial" panose="020B0604020202090204"/>
              <a:cs typeface="Times New Roman Bold" panose="02020503050405090304" charset="0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Team Leader Contact Number	: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9042542645</a:t>
            </a:r>
            <a:endParaRPr lang="en-US" sz="4000" b="1" i="0" u="none" strike="noStrike" cap="none">
              <a:solidFill>
                <a:srgbClr val="000000"/>
              </a:solidFill>
              <a:latin typeface="Times New Roman Bold" panose="02020503050405090304" charset="0"/>
              <a:ea typeface="Arial" panose="020B0604020202090204"/>
              <a:cs typeface="Times New Roman Bold" panose="02020503050405090304" charset="0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Team Member Name 1			: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Ragesh P</a:t>
            </a:r>
            <a:endParaRPr lang="en-US" sz="3200" b="1" i="0" u="none" strike="noStrike" cap="none">
              <a:solidFill>
                <a:srgbClr val="000000"/>
              </a:solidFill>
              <a:latin typeface="Times New Roman Bold" panose="02020503050405090304" charset="0"/>
              <a:ea typeface="Arial" panose="020B0604020202090204"/>
              <a:cs typeface="Times New Roman Bold" panose="02020503050405090304" charset="0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Team Member Name 2</a:t>
            </a:r>
            <a:r>
              <a:rPr lang="en-US" sz="44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			: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 New Roman Bold" panose="02020503050405090304" charset="0"/>
                <a:ea typeface="Arial" panose="020B0604020202090204"/>
                <a:cs typeface="Times New Roman Bold" panose="02020503050405090304" charset="0"/>
                <a:sym typeface="Arial" panose="020B0604020202090204"/>
              </a:rPr>
              <a:t>Sarubala B</a:t>
            </a:r>
            <a:endParaRPr lang="en-US" sz="3200" b="1" i="0" u="none" strike="noStrike" cap="none">
              <a:solidFill>
                <a:srgbClr val="000000"/>
              </a:solidFill>
              <a:latin typeface="Times New Roman Bold" panose="02020503050405090304" charset="0"/>
              <a:ea typeface="Arial" panose="020B0604020202090204"/>
              <a:cs typeface="Times New Roman Bold" panose="02020503050405090304" charset="0"/>
              <a:sym typeface="Arial" panose="020B060402020209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763510" y="506730"/>
            <a:ext cx="31718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5400" b="1">
                <a:latin typeface="Times New Roman Bold" panose="02020503050405090304" charset="0"/>
                <a:cs typeface="Times New Roman Bold" panose="02020503050405090304" charset="0"/>
                <a:sym typeface="Arial" panose="020B0604020202090204"/>
              </a:rPr>
              <a:t>TITLE </a:t>
            </a:r>
            <a:endParaRPr lang="en-US" sz="5400" b="1">
              <a:latin typeface="Times New Roman Bold" panose="02020503050405090304" charset="0"/>
              <a:cs typeface="Times New Roman Bold" panose="02020503050405090304" charset="0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20615" y="378460"/>
            <a:ext cx="884809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5400" b="1" i="0">
                <a:solidFill>
                  <a:schemeClr val="tx1"/>
                </a:solidFill>
                <a:latin typeface="Arial Bold" panose="020B0604020202090204" charset="0"/>
                <a:ea typeface="berkeleyMono"/>
                <a:cs typeface="Arial Bold" panose="020B0604020202090204" charset="0"/>
              </a:rPr>
              <a:t>PROBLEM STATEMENT</a:t>
            </a:r>
            <a:endParaRPr lang="en-US" altLang="zh-CN" sz="5400" b="1" i="0">
              <a:solidFill>
                <a:schemeClr val="tx1"/>
              </a:solidFill>
              <a:latin typeface="Arial Bold" panose="020B0604020202090204" charset="0"/>
              <a:ea typeface="berkeleyMono"/>
              <a:cs typeface="Arial Bold" panose="020B06040202020902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639445" y="1454150"/>
            <a:ext cx="17007840" cy="280987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" name="Text Box 0"/>
          <p:cNvSpPr txBox="1"/>
          <p:nvPr/>
        </p:nvSpPr>
        <p:spPr>
          <a:xfrm>
            <a:off x="1586230" y="1454150"/>
            <a:ext cx="13695680" cy="26015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4000" b="1">
                <a:solidFill>
                  <a:srgbClr val="00206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Problem:</a:t>
            </a:r>
            <a:endParaRPr lang="en-US" altLang="zh-CN" sz="4000" b="1">
              <a:solidFill>
                <a:srgbClr val="00206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People often struggle to clearly explain issues during emergencies or technical situations </a:t>
            </a: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This leads to delays in receiving accurate help</a:t>
            </a:r>
            <a:endParaRPr lang="en-US" altLang="zh-CN" sz="3200"/>
          </a:p>
        </p:txBody>
      </p:sp>
      <p:sp>
        <p:nvSpPr>
          <p:cNvPr id="10" name="Text Box 9"/>
          <p:cNvSpPr txBox="1"/>
          <p:nvPr/>
        </p:nvSpPr>
        <p:spPr>
          <a:xfrm>
            <a:off x="1586230" y="4417695"/>
            <a:ext cx="1565529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>
                <a:solidFill>
                  <a:srgbClr val="0070C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Pain Points:</a:t>
            </a:r>
            <a:endParaRPr lang="en-US" altLang="en-US" sz="3200" b="1">
              <a:solidFill>
                <a:srgbClr val="0070C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altLang="en-US" sz="3200"/>
          </a:p>
          <a:p>
            <a:r>
              <a:rPr lang="en-US" altLang="en-US" sz="3200"/>
              <a:t>Text or voice alone cannot capture important visual details</a:t>
            </a:r>
            <a:endParaRPr lang="en-US" altLang="en-US" sz="3200"/>
          </a:p>
          <a:p>
            <a:r>
              <a:rPr lang="en-US" altLang="en-US" sz="3200"/>
              <a:t>Searching online for solutions is time-consuming and confusing, especially under stress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 b="1">
                <a:solidFill>
                  <a:srgbClr val="0070C0"/>
                </a:solidFill>
              </a:rPr>
              <a:t>Examples:</a:t>
            </a:r>
            <a:endParaRPr lang="en-US" altLang="en-US" sz="3200" b="1">
              <a:solidFill>
                <a:srgbClr val="0070C0"/>
              </a:solidFill>
            </a:endParaRPr>
          </a:p>
          <a:p>
            <a:endParaRPr lang="en-US" altLang="en-US" sz="3200"/>
          </a:p>
          <a:p>
            <a:r>
              <a:rPr lang="en-US" altLang="en-US" sz="3200"/>
              <a:t>Explaining engine or machine damage</a:t>
            </a:r>
            <a:endParaRPr lang="en-US" altLang="en-US" sz="3200"/>
          </a:p>
          <a:p>
            <a:r>
              <a:rPr lang="en-US" altLang="en-US" sz="3200"/>
              <a:t>Understanding error codes on devices or circuit boards</a:t>
            </a:r>
            <a:endParaRPr lang="en-US" altLang="en-US" sz="3200"/>
          </a:p>
          <a:p>
            <a:r>
              <a:rPr lang="en-US" altLang="en-US" sz="3200"/>
              <a:t>Describing injuries or first-aid situations</a:t>
            </a:r>
            <a:endParaRPr lang="en-US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4920615" y="378460"/>
            <a:ext cx="884809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5400" b="1" i="0">
                <a:solidFill>
                  <a:schemeClr val="tx1"/>
                </a:solidFill>
                <a:latin typeface="Arial Bold" panose="020B0604020202090204" charset="0"/>
                <a:ea typeface="berkeleyMono"/>
                <a:cs typeface="Arial Bold" panose="020B0604020202090204" charset="0"/>
              </a:rPr>
              <a:t>OUR SOLUTION</a:t>
            </a:r>
            <a:endParaRPr lang="en-US" altLang="zh-CN" sz="5400" b="1" i="0">
              <a:solidFill>
                <a:schemeClr val="tx1"/>
              </a:solidFill>
              <a:latin typeface="Arial Bold" panose="020B0604020202090204" charset="0"/>
              <a:ea typeface="berkeleyMono"/>
              <a:cs typeface="Arial Bold" panose="020B0604020202090204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83385" y="1300480"/>
            <a:ext cx="15323185" cy="2019300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" name="Text Box 0"/>
          <p:cNvSpPr txBox="1"/>
          <p:nvPr/>
        </p:nvSpPr>
        <p:spPr>
          <a:xfrm>
            <a:off x="3405505" y="1300480"/>
            <a:ext cx="12655550" cy="18630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00206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RescueLens AI:</a:t>
            </a:r>
            <a:endParaRPr lang="en-US" altLang="zh-CN" sz="3200" b="1">
              <a:solidFill>
                <a:srgbClr val="00206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An intelligent AI assistant that uses camera and voice input to understand real-world problems</a:t>
            </a:r>
            <a:endParaRPr lang="en-US" altLang="zh-CN" sz="3200"/>
          </a:p>
        </p:txBody>
      </p:sp>
      <p:sp>
        <p:nvSpPr>
          <p:cNvPr id="9" name="Text Box 8"/>
          <p:cNvSpPr txBox="1"/>
          <p:nvPr/>
        </p:nvSpPr>
        <p:spPr>
          <a:xfrm>
            <a:off x="3405505" y="3563620"/>
            <a:ext cx="12655550" cy="59969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0070C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What it does:</a:t>
            </a:r>
            <a:endParaRPr lang="en-US" altLang="zh-CN" sz="3200" b="1">
              <a:solidFill>
                <a:srgbClr val="0070C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Captures the issue through the device camera</a:t>
            </a: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Understands user queries via voice or text input</a:t>
            </a: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Provides instant, accurate guidance and solutions</a:t>
            </a: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endParaRPr lang="en-US" altLang="zh-CN" sz="3200"/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0070C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Main Idea:</a:t>
            </a:r>
            <a:endParaRPr lang="en-US" altLang="zh-CN" sz="3200" b="1">
              <a:solidFill>
                <a:srgbClr val="0070C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Eliminates the need for complex explanations </a:t>
            </a: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Users can simply show the problem and get immediate help</a:t>
            </a:r>
            <a:endParaRPr lang="en-US" altLang="zh-CN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6582614" y="9752406"/>
            <a:ext cx="52284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Tamizhan Skills | Ideathon-2026</a:t>
            </a:r>
            <a:endParaRPr lang="en-US" sz="259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901565" y="207010"/>
            <a:ext cx="884809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5400" b="1" i="0">
                <a:solidFill>
                  <a:schemeClr val="tx1"/>
                </a:solidFill>
                <a:latin typeface="Arial Bold" panose="020B0604020202090204" charset="0"/>
                <a:ea typeface="berkeleyMono"/>
                <a:cs typeface="Arial Bold" panose="020B0604020202090204" charset="0"/>
              </a:rPr>
              <a:t>TECHNOLOGY USED</a:t>
            </a:r>
            <a:endParaRPr lang="en-US" altLang="zh-CN" sz="5400" b="1" i="0">
              <a:solidFill>
                <a:schemeClr val="tx1"/>
              </a:solidFill>
              <a:latin typeface="Arial Bold" panose="020B0604020202090204" charset="0"/>
              <a:ea typeface="berkeleyMono"/>
              <a:cs typeface="Arial Bold" panose="020B0604020202090204" charset="0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1202055" y="1547495"/>
            <a:ext cx="16247110" cy="719201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 b="0" i="0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-apple-system"/>
              </a:rPr>
              <a:t>Google Gemini 1.5 Pro:</a:t>
            </a:r>
            <a:r>
              <a:rPr lang="en-US" altLang="zh-CN" sz="3200" b="0" i="0">
                <a:solidFill>
                  <a:schemeClr val="tx1"/>
                </a:solidFill>
                <a:latin typeface="-apple-system"/>
                <a:ea typeface="-apple-system"/>
              </a:rPr>
              <a:t> The native multimodal powerhouse to simultaneously reason across image, voice, and text inputs with an expansive context window.</a:t>
            </a:r>
            <a:endParaRPr lang="en-US" altLang="zh-CN" sz="32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endParaRPr lang="en-US" altLang="zh-CN" sz="32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 b="0" i="0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-apple-system"/>
              </a:rPr>
              <a:t>FastAPI &amp; Python:</a:t>
            </a:r>
            <a:r>
              <a:rPr lang="en-US" altLang="zh-CN" sz="3200" b="0" i="0">
                <a:solidFill>
                  <a:schemeClr val="tx1"/>
                </a:solidFill>
                <a:latin typeface="-apple-system"/>
                <a:ea typeface="-apple-system"/>
              </a:rPr>
              <a:t> Chosen for high-performance, asynchronous API handling and seamless integration with the Google GenAI SDK.</a:t>
            </a:r>
            <a:endParaRPr lang="en-US" altLang="zh-CN" sz="32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endParaRPr lang="en-US" altLang="zh-CN" sz="32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 b="0" i="0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-apple-system"/>
              </a:rPr>
              <a:t>Next.js 14 &amp; React:</a:t>
            </a:r>
            <a:r>
              <a:rPr lang="en-US" altLang="zh-CN" sz="3200" b="0" i="0">
                <a:solidFill>
                  <a:schemeClr val="tx1"/>
                </a:solidFill>
                <a:latin typeface="-apple-system"/>
                <a:ea typeface="-apple-system"/>
              </a:rPr>
              <a:t> Delivers a highly responsive, modern frontend that smoothly handles real-time camera feeds (WebRTC) and speech recognition.</a:t>
            </a:r>
            <a:endParaRPr lang="en-US" altLang="zh-CN" sz="32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endParaRPr lang="en-US" altLang="zh-CN" sz="32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 b="0" i="0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-apple-system"/>
              </a:rPr>
              <a:t>Google Cloud Platform (Cloud Run, Firestore, Cloud Storage):</a:t>
            </a:r>
            <a:r>
              <a:rPr lang="en-US" altLang="zh-CN" sz="3200" b="0" i="0">
                <a:solidFill>
                  <a:schemeClr val="tx1"/>
                </a:solidFill>
                <a:latin typeface="-apple-system"/>
                <a:ea typeface="-apple-system"/>
              </a:rPr>
              <a:t> Ensures a scalable, serverless backend infrastructure, seamless audit trails, and robust, persistent conversation memory.</a:t>
            </a:r>
            <a:endParaRPr lang="en-US" altLang="zh-CN" sz="32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920615" y="378460"/>
            <a:ext cx="884809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5400" b="1" i="0">
                <a:solidFill>
                  <a:schemeClr val="tx1"/>
                </a:solidFill>
                <a:latin typeface="Arial Bold" panose="020B0604020202090204" charset="0"/>
                <a:ea typeface="berkeleyMono"/>
                <a:cs typeface="Arial Bold" panose="020B0604020202090204" charset="0"/>
              </a:rPr>
              <a:t>HOW IT WORKS</a:t>
            </a:r>
            <a:endParaRPr lang="en-US" altLang="zh-CN" sz="5400" b="1" i="0">
              <a:solidFill>
                <a:schemeClr val="tx1"/>
              </a:solidFill>
              <a:latin typeface="Arial Bold" panose="020B0604020202090204" charset="0"/>
              <a:ea typeface="berkeleyMono"/>
              <a:cs typeface="Arial Bold" panose="020B0604020202090204" charset="0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5482590" y="1650365"/>
            <a:ext cx="9317355" cy="77685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>
                <a:solidFill>
                  <a:srgbClr val="0070C0"/>
                </a:solidFill>
              </a:rPr>
              <a:t>Step 1: Input</a:t>
            </a:r>
            <a:endParaRPr lang="en-US" altLang="zh-CN" sz="320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User shows problem using camera </a:t>
            </a: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Speaks or types the question </a:t>
            </a: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endParaRPr lang="en-US" altLang="zh-CN" sz="3200"/>
          </a:p>
          <a:p>
            <a:pPr>
              <a:lnSpc>
                <a:spcPct val="120000"/>
              </a:lnSpc>
            </a:pPr>
            <a:r>
              <a:rPr lang="en-US" altLang="zh-CN" sz="3200">
                <a:solidFill>
                  <a:srgbClr val="0070C0"/>
                </a:solidFill>
              </a:rPr>
              <a:t>Step 2: Processing</a:t>
            </a:r>
            <a:endParaRPr lang="en-US" altLang="zh-CN" sz="320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System combines image + voice + past data</a:t>
            </a:r>
            <a:endParaRPr lang="en-US" altLang="zh-CN" sz="3200"/>
          </a:p>
          <a:p>
            <a:pPr indent="0">
              <a:lnSpc>
                <a:spcPct val="120000"/>
              </a:lnSpc>
              <a:buFont typeface="Arial" panose="020B0604020202090204"/>
              <a:buNone/>
            </a:pPr>
            <a:r>
              <a:rPr lang="en-US" altLang="zh-CN" sz="3200"/>
              <a:t> </a:t>
            </a:r>
            <a:endParaRPr lang="en-US" altLang="zh-CN" sz="3200"/>
          </a:p>
          <a:p>
            <a:pPr>
              <a:lnSpc>
                <a:spcPct val="120000"/>
              </a:lnSpc>
            </a:pPr>
            <a:r>
              <a:rPr lang="en-US" altLang="zh-CN" sz="3200">
                <a:solidFill>
                  <a:srgbClr val="0070C0"/>
                </a:solidFill>
              </a:rPr>
              <a:t>Step 3: AI Analysis</a:t>
            </a:r>
            <a:endParaRPr lang="en-US" altLang="zh-CN" sz="320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Gemini AI analyzes all inputs</a:t>
            </a:r>
            <a:endParaRPr lang="en-US" altLang="zh-CN" sz="3200"/>
          </a:p>
          <a:p>
            <a:pPr indent="0">
              <a:lnSpc>
                <a:spcPct val="120000"/>
              </a:lnSpc>
              <a:buFont typeface="Arial" panose="020B0604020202090204"/>
              <a:buNone/>
            </a:pPr>
            <a:endParaRPr lang="en-US" altLang="zh-CN" sz="3200"/>
          </a:p>
          <a:p>
            <a:pPr>
              <a:lnSpc>
                <a:spcPct val="120000"/>
              </a:lnSpc>
            </a:pPr>
            <a:r>
              <a:rPr lang="en-US" altLang="zh-CN" sz="3200">
                <a:solidFill>
                  <a:srgbClr val="0070C0"/>
                </a:solidFill>
              </a:rPr>
              <a:t>Step 4: Output</a:t>
            </a:r>
            <a:endParaRPr lang="en-US" altLang="zh-CN" sz="320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Gives clear solution </a:t>
            </a:r>
            <a:endParaRPr lang="en-US" altLang="zh-CN" sz="3200"/>
          </a:p>
          <a:p>
            <a:pPr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sz="3200"/>
              <a:t> Voice + text response</a:t>
            </a:r>
            <a:endParaRPr lang="en-US" altLang="zh-CN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276600" y="207010"/>
            <a:ext cx="1224407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5400" b="1" i="0">
                <a:solidFill>
                  <a:schemeClr val="tx1"/>
                </a:solidFill>
                <a:latin typeface="Arial Bold" panose="020B0604020202090204" charset="0"/>
                <a:ea typeface="berkeleyMono"/>
                <a:cs typeface="Arial Bold" panose="020B0604020202090204" charset="0"/>
              </a:rPr>
              <a:t>KEY FEATURES &amp; UNIQUENESS</a:t>
            </a:r>
            <a:endParaRPr lang="en-US" altLang="zh-CN" sz="5400" b="1" i="0">
              <a:solidFill>
                <a:schemeClr val="tx1"/>
              </a:solidFill>
              <a:latin typeface="Arial Bold" panose="020B0604020202090204" charset="0"/>
              <a:ea typeface="berkeleyMono"/>
              <a:cs typeface="Arial Bold" panose="020B0604020202090204" charset="0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4634865" y="1799590"/>
            <a:ext cx="8304530" cy="37331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60000"/>
              </a:lnSpc>
              <a:buFont typeface="Arial" panose="020B0604020202090204"/>
              <a:buChar char="•"/>
            </a:pPr>
            <a:r>
              <a:rPr lang="en-US" altLang="zh-CN" sz="3200"/>
              <a:t>Works with image + voice + text together</a:t>
            </a:r>
            <a:endParaRPr lang="en-US" altLang="zh-CN" sz="3200"/>
          </a:p>
          <a:p>
            <a:pPr>
              <a:lnSpc>
                <a:spcPct val="160000"/>
              </a:lnSpc>
              <a:buFont typeface="Arial" panose="020B0604020202090204"/>
              <a:buChar char="•"/>
            </a:pPr>
            <a:r>
              <a:rPr lang="en-US" altLang="zh-CN" sz="3200"/>
              <a:t>Hands-free usage (voice support) </a:t>
            </a:r>
            <a:endParaRPr lang="en-US" altLang="zh-CN" sz="3200"/>
          </a:p>
          <a:p>
            <a:pPr>
              <a:lnSpc>
                <a:spcPct val="160000"/>
              </a:lnSpc>
              <a:buFont typeface="Arial" panose="020B0604020202090204"/>
              <a:buChar char="•"/>
            </a:pPr>
            <a:r>
              <a:rPr lang="en-US" altLang="zh-CN" sz="3200"/>
              <a:t> Remembers previous conversation </a:t>
            </a:r>
            <a:endParaRPr lang="en-US" altLang="zh-CN" sz="3200"/>
          </a:p>
          <a:p>
            <a:pPr>
              <a:lnSpc>
                <a:spcPct val="160000"/>
              </a:lnSpc>
              <a:buFont typeface="Arial" panose="020B0604020202090204"/>
              <a:buChar char="•"/>
            </a:pPr>
            <a:r>
              <a:rPr lang="en-US" altLang="zh-CN" sz="3200"/>
              <a:t> Fast and real-time response </a:t>
            </a:r>
            <a:endParaRPr lang="en-US" altLang="zh-CN" sz="3200"/>
          </a:p>
          <a:p>
            <a:endParaRPr lang="en-US" altLang="zh-CN" sz="3200"/>
          </a:p>
        </p:txBody>
      </p:sp>
      <p:sp>
        <p:nvSpPr>
          <p:cNvPr id="4" name="Text Box 3"/>
          <p:cNvSpPr txBox="1"/>
          <p:nvPr/>
        </p:nvSpPr>
        <p:spPr>
          <a:xfrm>
            <a:off x="4634865" y="5869940"/>
            <a:ext cx="9144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3200" b="1">
                <a:solidFill>
                  <a:srgbClr val="002060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Uniqueness:</a:t>
            </a:r>
            <a:endParaRPr lang="en-US" altLang="zh-CN" sz="3200" b="1">
              <a:solidFill>
                <a:srgbClr val="00206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3200">
                <a:sym typeface="+mn-ea"/>
              </a:rPr>
              <a:t> Other apps need typing </a:t>
            </a:r>
            <a:endParaRPr lang="en-US" altLang="zh-CN" sz="32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3200">
                <a:sym typeface="+mn-ea"/>
              </a:rPr>
              <a:t> RescueLens sees the problem directly</a:t>
            </a:r>
            <a:endParaRPr lang="en-US" altLang="zh-CN" sz="32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276600" y="207010"/>
            <a:ext cx="1224407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5400" b="1" i="0">
                <a:solidFill>
                  <a:schemeClr val="tx1"/>
                </a:solidFill>
                <a:latin typeface="Arial Bold" panose="020B0604020202090204" charset="0"/>
                <a:ea typeface="berkeleyMono"/>
                <a:cs typeface="Arial Bold" panose="020B0604020202090204" charset="0"/>
              </a:rPr>
              <a:t>IMPACT &amp; BENEFITS</a:t>
            </a:r>
            <a:endParaRPr lang="en-US" altLang="zh-CN" sz="5400" b="1" i="0">
              <a:solidFill>
                <a:schemeClr val="tx1"/>
              </a:solidFill>
              <a:latin typeface="Arial Bold" panose="020B0604020202090204" charset="0"/>
              <a:ea typeface="berkeleyMono"/>
              <a:cs typeface="Arial Bold" panose="020B0604020202090204" charset="0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1934210" y="2454275"/>
            <a:ext cx="6955155" cy="56057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40000"/>
              </a:lnSpc>
            </a:pPr>
            <a:r>
              <a:rPr lang="en-US" altLang="zh-CN" sz="3200" b="1">
                <a:solidFill>
                  <a:srgbClr val="0070C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Impact:</a:t>
            </a:r>
            <a:endParaRPr lang="en-US" altLang="zh-CN" sz="3200" b="1">
              <a:solidFill>
                <a:srgbClr val="0070C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40000"/>
              </a:lnSpc>
              <a:buFont typeface="Arial" panose="020B0604020202090204"/>
              <a:buChar char="•"/>
            </a:pPr>
            <a:r>
              <a:rPr lang="en-US" altLang="zh-CN" sz="3200"/>
              <a:t> Faster help in emergencies </a:t>
            </a:r>
            <a:endParaRPr lang="en-US" altLang="zh-CN" sz="3200"/>
          </a:p>
          <a:p>
            <a:pPr>
              <a:lnSpc>
                <a:spcPct val="140000"/>
              </a:lnSpc>
              <a:buFont typeface="Arial" panose="020B0604020202090204"/>
              <a:buChar char="•"/>
            </a:pPr>
            <a:r>
              <a:rPr lang="en-US" altLang="zh-CN" sz="3200"/>
              <a:t> Can prevent damage or save lives</a:t>
            </a:r>
            <a:endParaRPr lang="en-US" altLang="zh-CN" sz="3200"/>
          </a:p>
          <a:p>
            <a:pPr indent="0">
              <a:lnSpc>
                <a:spcPct val="140000"/>
              </a:lnSpc>
              <a:buFont typeface="Arial" panose="020B0604020202090204"/>
              <a:buNone/>
            </a:pPr>
            <a:r>
              <a:rPr lang="en-US" altLang="zh-CN" sz="3200"/>
              <a:t> </a:t>
            </a:r>
            <a:endParaRPr lang="en-US" altLang="zh-CN" sz="3200"/>
          </a:p>
          <a:p>
            <a:pPr>
              <a:lnSpc>
                <a:spcPct val="140000"/>
              </a:lnSpc>
            </a:pPr>
            <a:r>
              <a:rPr lang="en-US" altLang="zh-CN" sz="3200" b="1">
                <a:solidFill>
                  <a:srgbClr val="0070C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Benefits:</a:t>
            </a:r>
            <a:endParaRPr lang="en-US" altLang="zh-CN" sz="3200" b="1">
              <a:solidFill>
                <a:srgbClr val="0070C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40000"/>
              </a:lnSpc>
              <a:buFont typeface="Arial" panose="020B0604020202090204"/>
              <a:buChar char="•"/>
            </a:pPr>
            <a:r>
              <a:rPr lang="en-US" altLang="zh-CN" sz="3200"/>
              <a:t> Reduces confusion </a:t>
            </a:r>
            <a:endParaRPr lang="en-US" altLang="zh-CN" sz="3200"/>
          </a:p>
          <a:p>
            <a:pPr>
              <a:lnSpc>
                <a:spcPct val="140000"/>
              </a:lnSpc>
              <a:buFont typeface="Arial" panose="020B0604020202090204"/>
              <a:buChar char="•"/>
            </a:pPr>
            <a:r>
              <a:rPr lang="en-US" altLang="zh-CN" sz="3200"/>
              <a:t> Saves time </a:t>
            </a:r>
            <a:endParaRPr lang="en-US" altLang="zh-CN" sz="3200"/>
          </a:p>
          <a:p>
            <a:pPr>
              <a:lnSpc>
                <a:spcPct val="140000"/>
              </a:lnSpc>
              <a:buFont typeface="Arial" panose="020B0604020202090204"/>
              <a:buChar char="•"/>
            </a:pPr>
            <a:r>
              <a:rPr lang="en-US" altLang="zh-CN" sz="3200"/>
              <a:t> Easy to use </a:t>
            </a:r>
            <a:endParaRPr lang="en-US" altLang="zh-CN" sz="3200"/>
          </a:p>
        </p:txBody>
      </p:sp>
      <p:sp>
        <p:nvSpPr>
          <p:cNvPr id="6" name="Text Box 5"/>
          <p:cNvSpPr txBox="1"/>
          <p:nvPr/>
        </p:nvSpPr>
        <p:spPr>
          <a:xfrm>
            <a:off x="9958070" y="3517583"/>
            <a:ext cx="5080000" cy="284861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40000"/>
              </a:lnSpc>
            </a:pPr>
            <a:r>
              <a:rPr lang="en-US" altLang="zh-CN" sz="3200">
                <a:solidFill>
                  <a:srgbClr val="FF0000"/>
                </a:solidFill>
              </a:rPr>
              <a:t>Target Users:</a:t>
            </a:r>
            <a:endParaRPr lang="en-US" altLang="zh-CN" sz="3200">
              <a:solidFill>
                <a:srgbClr val="FF0000"/>
              </a:solidFill>
            </a:endParaRPr>
          </a:p>
          <a:p>
            <a:pPr>
              <a:lnSpc>
                <a:spcPct val="140000"/>
              </a:lnSpc>
              <a:buFont typeface="Arial" panose="020B0604020202090204"/>
              <a:buChar char="•"/>
            </a:pPr>
            <a:r>
              <a:rPr lang="en-US" altLang="zh-CN" sz="3200"/>
              <a:t> General people </a:t>
            </a:r>
            <a:endParaRPr lang="en-US" altLang="zh-CN" sz="3200"/>
          </a:p>
          <a:p>
            <a:pPr>
              <a:lnSpc>
                <a:spcPct val="140000"/>
              </a:lnSpc>
              <a:buFont typeface="Arial" panose="020B0604020202090204"/>
              <a:buChar char="•"/>
            </a:pPr>
            <a:r>
              <a:rPr lang="en-US" altLang="zh-CN" sz="3200"/>
              <a:t> Technicians </a:t>
            </a:r>
            <a:endParaRPr lang="en-US" altLang="zh-CN" sz="3200"/>
          </a:p>
          <a:p>
            <a:pPr>
              <a:lnSpc>
                <a:spcPct val="140000"/>
              </a:lnSpc>
              <a:buFont typeface="Arial" panose="020B0604020202090204"/>
              <a:buChar char="•"/>
            </a:pPr>
            <a:r>
              <a:rPr lang="en-US" altLang="zh-CN" sz="3200"/>
              <a:t> Emergency situations </a:t>
            </a:r>
            <a:endParaRPr lang="en-US" altLang="zh-CN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2452</Words>
  <Application>WPS Presentation</Application>
  <PresentationFormat/>
  <Paragraphs>98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Helvetica Neue</vt:lpstr>
      <vt:lpstr>Times New Roman Bold</vt:lpstr>
      <vt:lpstr>Arial Bold</vt:lpstr>
      <vt:lpstr>berkeleyMono</vt:lpstr>
      <vt:lpstr>Thonburi</vt:lpstr>
      <vt:lpstr>Microsoft YaHei</vt:lpstr>
      <vt:lpstr>汉仪旗黑</vt:lpstr>
      <vt:lpstr>Arial Unicode MS</vt:lpstr>
      <vt:lpstr>宋体-简</vt:lpstr>
      <vt:lpstr>Apple Color Emoji</vt:lpstr>
      <vt:lpstr>-apple-system</vt:lpstr>
      <vt:lpstr>-apple-system</vt:lpstr>
      <vt:lpstr>berkeleyMono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WPS_1753284938</cp:lastModifiedBy>
  <cp:revision>4</cp:revision>
  <dcterms:created xsi:type="dcterms:W3CDTF">2026-04-09T13:11:02Z</dcterms:created>
  <dcterms:modified xsi:type="dcterms:W3CDTF">2026-04-09T13:11:02Z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A7525D00B9B40BE366A5D769F2BEA04E_43</vt:lpwstr>
  </property>
  <property fmtid="{D5CDD505-2E9C-101B-9397-08002B2CF9AE}" pid="3" name="KSOProductBuildVer">
    <vt:lpwstr>1033-12.1.23155.23155</vt:lpwstr>
  </property>
</Properties>
</file>